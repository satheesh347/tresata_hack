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Telegraf Bold" charset="1" panose="00000800000000000000"/>
      <p:regular r:id="rId8"/>
    </p:embeddedFont>
    <p:embeddedFont>
      <p:font typeface="Telegraf" charset="1" panose="000005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57450"/>
            <a:chOff x="0" y="0"/>
            <a:chExt cx="4816593" cy="647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47230"/>
            </a:xfrm>
            <a:custGeom>
              <a:avLst/>
              <a:gdLst/>
              <a:ahLst/>
              <a:cxnLst/>
              <a:rect r="r" b="b" t="t" l="l"/>
              <a:pathLst>
                <a:path h="64723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694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666750" y="5143500"/>
            <a:ext cx="169545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666750" y="5008305"/>
            <a:ext cx="270390" cy="27039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138988" y="5008305"/>
            <a:ext cx="270390" cy="27039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57250" y="3767946"/>
            <a:ext cx="381952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</a:pPr>
            <a:r>
              <a:rPr lang="en-US" b="true" sz="3000" spc="-30">
                <a:solidFill>
                  <a:srgbClr val="1E5F99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Data Input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5957734"/>
            <a:ext cx="4010025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Raw CSV files are ingested into the pipeline for processing.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40063" y="5957734"/>
            <a:ext cx="4007874" cy="108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Python tools, including prediction and parsing, transform the data effectively.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84091" y="3767946"/>
            <a:ext cx="387267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  <a:spcBef>
                <a:spcPct val="0"/>
              </a:spcBef>
            </a:pPr>
            <a:r>
              <a:rPr lang="en-US" b="true" sz="3000" spc="-30" strike="noStrike" u="none">
                <a:solidFill>
                  <a:srgbClr val="1E5F99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Processing Tools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64085" y="3767946"/>
            <a:ext cx="386311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  <a:spcBef>
                <a:spcPct val="0"/>
              </a:spcBef>
            </a:pPr>
            <a:r>
              <a:rPr lang="en-US" b="true" sz="3000" spc="-30" strike="noStrike" u="none">
                <a:solidFill>
                  <a:srgbClr val="1E5F99"/>
                </a:solidFill>
                <a:latin typeface="Telegraf Bold"/>
                <a:ea typeface="Telegraf Bold"/>
                <a:cs typeface="Telegraf Bold"/>
                <a:sym typeface="Telegraf Bold"/>
              </a:rPr>
              <a:t>Cleaned Output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6750" y="657225"/>
            <a:ext cx="16954500" cy="106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9"/>
              </a:lnSpc>
            </a:pPr>
            <a:r>
              <a:rPr lang="en-US" b="true" sz="6999" spc="-69">
                <a:solidFill>
                  <a:srgbClr val="0D3B66"/>
                </a:solidFill>
                <a:latin typeface="Telegraf Bold"/>
                <a:ea typeface="Telegraf Bold"/>
                <a:cs typeface="Telegraf Bold"/>
                <a:sym typeface="Telegraf Bold"/>
              </a:rPr>
              <a:t>System Architecture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611225" y="5008305"/>
            <a:ext cx="270390" cy="27039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611225" y="5957734"/>
            <a:ext cx="4010025" cy="1082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2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The final cleaned data is outputted as a new CSV file. named as output.csv</a:t>
            </a:r>
          </a:p>
        </p:txBody>
      </p:sp>
      <p:sp>
        <p:nvSpPr>
          <p:cNvPr name="AutoShape 22" id="2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CONNECTOR DETAILS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526744" y="967644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970" y="647700"/>
            <a:ext cx="12925255" cy="205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0"/>
              </a:lnSpc>
            </a:pPr>
            <a:r>
              <a:rPr lang="en-US" b="true" sz="7000" spc="-70" strike="noStrike" u="none">
                <a:solidFill>
                  <a:srgbClr val="0D3B66"/>
                </a:solidFill>
                <a:latin typeface="Telegraf Bold"/>
                <a:ea typeface="Telegraf Bold"/>
                <a:cs typeface="Telegraf Bold"/>
                <a:sym typeface="Telegraf Bold"/>
              </a:rPr>
              <a:t>Technical Approach &amp; Model Design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85970" y="3352800"/>
            <a:ext cx="8041701" cy="2539330"/>
            <a:chOff x="0" y="0"/>
            <a:chExt cx="10722268" cy="338577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0722268" cy="723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64"/>
                </a:lnSpc>
              </a:pPr>
              <a:r>
                <a:rPr lang="en-US" b="true" sz="3513">
                  <a:solidFill>
                    <a:srgbClr val="1E5F99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Classification Logic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87870"/>
              <a:ext cx="10722268" cy="21979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78"/>
                </a:lnSpc>
              </a:pPr>
              <a:r>
                <a:rPr lang="en-US" sz="2342" strike="noStrike" u="none">
                  <a:solidFill>
                    <a:srgbClr val="0D3B66"/>
                  </a:solidFill>
                  <a:latin typeface="Telegraf"/>
                  <a:ea typeface="Telegraf"/>
                  <a:cs typeface="Telegraf"/>
                  <a:sym typeface="Telegraf"/>
                </a:rPr>
                <a:t>Our pipeline utilizes </a:t>
              </a:r>
              <a:r>
                <a:rPr lang="en-US" b="true" sz="2342" strike="noStrike" u="none">
                  <a:solidFill>
                    <a:srgbClr val="0D3B6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Regex and Dictionary Lookups</a:t>
              </a:r>
              <a:r>
                <a:rPr lang="en-US" sz="2342" strike="noStrike" u="none">
                  <a:solidFill>
                    <a:srgbClr val="0D3B66"/>
                  </a:solidFill>
                  <a:latin typeface="Telegraf"/>
                  <a:ea typeface="Telegraf"/>
                  <a:cs typeface="Telegraf"/>
                  <a:sym typeface="Telegraf"/>
                </a:rPr>
                <a:t> in conjunction with a voting system, enhancing data classification accuracy by consolidating results from multiple methods for improved reliability.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3352800"/>
            <a:ext cx="8324850" cy="2621403"/>
            <a:chOff x="0" y="0"/>
            <a:chExt cx="11099800" cy="349520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11099800" cy="7369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89"/>
                </a:lnSpc>
              </a:pPr>
              <a:r>
                <a:rPr lang="en-US" b="true" sz="3626" strike="noStrike" u="none">
                  <a:solidFill>
                    <a:srgbClr val="1E5F99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Parsing Strategy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228726"/>
              <a:ext cx="11099800" cy="22664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4"/>
                </a:lnSpc>
              </a:pPr>
              <a:r>
                <a:rPr lang="en-US" sz="2417" strike="noStrike" u="none">
                  <a:solidFill>
                    <a:srgbClr val="0D3B66"/>
                  </a:solidFill>
                  <a:latin typeface="Telegraf"/>
                  <a:ea typeface="Telegraf"/>
                  <a:cs typeface="Telegraf"/>
                  <a:sym typeface="Telegraf"/>
                </a:rPr>
                <a:t>We employ the 'phonenumbers' Python library for efficient phone number extraction and validation, alongside the Longest-Suffix Match algorithm to accurately identify company names from unstructured text.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0D3B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0D3B66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ADDITIONAL INSIGHTS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436838" y="9676442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0D3B66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Data Input</dc:description>
  <dc:identifier>DAG59dyO3Yw</dc:identifier>
  <dcterms:modified xsi:type="dcterms:W3CDTF">2011-08-01T06:04:30Z</dcterms:modified>
  <cp:revision>1</cp:revision>
  <dc:title>Presentation - Data Input</dc:title>
</cp:coreProperties>
</file>